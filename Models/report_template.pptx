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" userDrawn="1">
          <p15:clr>
            <a:srgbClr val="A4A3A4"/>
          </p15:clr>
        </p15:guide>
        <p15:guide id="2" pos="2251" userDrawn="1">
          <p15:clr>
            <a:srgbClr val="A4A3A4"/>
          </p15:clr>
        </p15:guide>
        <p15:guide id="3" orient="horz" pos="6068" userDrawn="1">
          <p15:clr>
            <a:srgbClr val="A4A3A4"/>
          </p15:clr>
        </p15:guide>
        <p15:guide id="4" pos="4201" userDrawn="1">
          <p15:clr>
            <a:srgbClr val="A4A3A4"/>
          </p15:clr>
        </p15:guide>
        <p15:guide id="5" pos="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 showGuides="1">
      <p:cViewPr>
        <p:scale>
          <a:sx n="87" d="100"/>
          <a:sy n="87" d="100"/>
        </p:scale>
        <p:origin x="2888" y="200"/>
      </p:cViewPr>
      <p:guideLst>
        <p:guide orient="horz" pos="172"/>
        <p:guide pos="2251"/>
        <p:guide orient="horz" pos="6068"/>
        <p:guide pos="4201"/>
        <p:guide pos="1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29FF4-D1F5-2D4A-8013-B73C9187F037}" type="datetimeFigureOut">
              <a:rPr lang="en-UA" smtClean="0"/>
              <a:t>30.04.2026</a:t>
            </a:fld>
            <a:endParaRPr lang="en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9B888-F3B9-3449-B43F-CF080ECE7754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6404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9342-91D8-2945-A3CA-87CE8093EAE6}" type="datetimeFigureOut">
              <a:rPr lang="en-UA" smtClean="0"/>
              <a:t>30.04.2026</a:t>
            </a:fld>
            <a:endParaRPr lang="en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D28F-96CC-974D-A51D-E8256B351A2D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53017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9342-91D8-2945-A3CA-87CE8093EAE6}" type="datetimeFigureOut">
              <a:rPr lang="en-UA" smtClean="0"/>
              <a:t>30.04.2026</a:t>
            </a:fld>
            <a:endParaRPr lang="en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D28F-96CC-974D-A51D-E8256B351A2D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7409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9342-91D8-2945-A3CA-87CE8093EAE6}" type="datetimeFigureOut">
              <a:rPr lang="en-UA" smtClean="0"/>
              <a:t>30.04.2026</a:t>
            </a:fld>
            <a:endParaRPr lang="en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D28F-96CC-974D-A51D-E8256B351A2D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89156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9342-91D8-2945-A3CA-87CE8093EAE6}" type="datetimeFigureOut">
              <a:rPr lang="en-UA" smtClean="0"/>
              <a:t>30.04.2026</a:t>
            </a:fld>
            <a:endParaRPr lang="en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D28F-96CC-974D-A51D-E8256B351A2D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36333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9342-91D8-2945-A3CA-87CE8093EAE6}" type="datetimeFigureOut">
              <a:rPr lang="en-UA" smtClean="0"/>
              <a:t>30.04.2026</a:t>
            </a:fld>
            <a:endParaRPr lang="en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D28F-96CC-974D-A51D-E8256B351A2D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03786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9342-91D8-2945-A3CA-87CE8093EAE6}" type="datetimeFigureOut">
              <a:rPr lang="en-UA" smtClean="0"/>
              <a:t>30.04.2026</a:t>
            </a:fld>
            <a:endParaRPr lang="en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D28F-96CC-974D-A51D-E8256B351A2D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435988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9342-91D8-2945-A3CA-87CE8093EAE6}" type="datetimeFigureOut">
              <a:rPr lang="en-UA" smtClean="0"/>
              <a:t>30.04.2026</a:t>
            </a:fld>
            <a:endParaRPr lang="en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D28F-96CC-974D-A51D-E8256B351A2D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15723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9342-91D8-2945-A3CA-87CE8093EAE6}" type="datetimeFigureOut">
              <a:rPr lang="en-UA" smtClean="0"/>
              <a:t>30.04.2026</a:t>
            </a:fld>
            <a:endParaRPr lang="en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D28F-96CC-974D-A51D-E8256B351A2D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359333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9342-91D8-2945-A3CA-87CE8093EAE6}" type="datetimeFigureOut">
              <a:rPr lang="en-UA" smtClean="0"/>
              <a:t>30.04.2026</a:t>
            </a:fld>
            <a:endParaRPr lang="en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D28F-96CC-974D-A51D-E8256B351A2D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6317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9342-91D8-2945-A3CA-87CE8093EAE6}" type="datetimeFigureOut">
              <a:rPr lang="en-UA" smtClean="0"/>
              <a:t>30.04.2026</a:t>
            </a:fld>
            <a:endParaRPr lang="en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D28F-96CC-974D-A51D-E8256B351A2D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597683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E9342-91D8-2945-A3CA-87CE8093EAE6}" type="datetimeFigureOut">
              <a:rPr lang="en-UA" smtClean="0"/>
              <a:t>30.04.2026</a:t>
            </a:fld>
            <a:endParaRPr lang="en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D28F-96CC-974D-A51D-E8256B351A2D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06797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E9342-91D8-2945-A3CA-87CE8093EAE6}" type="datetimeFigureOut">
              <a:rPr lang="en-UA" smtClean="0"/>
              <a:t>30.04.2026</a:t>
            </a:fld>
            <a:endParaRPr lang="en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CD28F-96CC-974D-A51D-E8256B351A2D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86398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89412C-1515-9F62-660D-38BDB5679FAC}"/>
              </a:ext>
            </a:extLst>
          </p:cNvPr>
          <p:cNvSpPr/>
          <p:nvPr/>
        </p:nvSpPr>
        <p:spPr>
          <a:xfrm>
            <a:off x="-68013" y="-98241"/>
            <a:ext cx="6997805" cy="3712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97EDD5-0FA6-D9DC-3866-20E64AB87E26}"/>
              </a:ext>
            </a:extLst>
          </p:cNvPr>
          <p:cNvSpPr/>
          <p:nvPr/>
        </p:nvSpPr>
        <p:spPr>
          <a:xfrm>
            <a:off x="-68013" y="9632950"/>
            <a:ext cx="6997805" cy="3712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98341-8887-ABAB-31C9-94CC1A2ED06F}"/>
              </a:ext>
            </a:extLst>
          </p:cNvPr>
          <p:cNvSpPr txBox="1"/>
          <p:nvPr/>
        </p:nvSpPr>
        <p:spPr>
          <a:xfrm>
            <a:off x="119638" y="-40862"/>
            <a:ext cx="26857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A" sz="1600" b="1" dirty="0">
                <a:latin typeface="Arial" panose="020B0604020202020204" pitchFamily="34" charset="0"/>
                <a:cs typeface="Arial" panose="020B0604020202020204" pitchFamily="34" charset="0"/>
              </a:rPr>
              <a:t>Conditional Alpha Predict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695A8C5-5409-EE83-A214-CD3CCEA08CF4}"/>
              </a:ext>
            </a:extLst>
          </p:cNvPr>
          <p:cNvSpPr/>
          <p:nvPr/>
        </p:nvSpPr>
        <p:spPr>
          <a:xfrm>
            <a:off x="188913" y="351741"/>
            <a:ext cx="3240087" cy="876962"/>
          </a:xfrm>
          <a:prstGeom prst="roundRect">
            <a:avLst/>
          </a:prstGeom>
          <a:solidFill>
            <a:schemeClr val="bg1"/>
          </a:solidFill>
          <a:ln w="1270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45A857-779C-A23F-6A84-EDB16E8D9FF6}"/>
              </a:ext>
            </a:extLst>
          </p:cNvPr>
          <p:cNvSpPr txBox="1"/>
          <p:nvPr/>
        </p:nvSpPr>
        <p:spPr>
          <a:xfrm>
            <a:off x="188912" y="347699"/>
            <a:ext cx="30587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A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Ticker: {ticker}</a:t>
            </a:r>
          </a:p>
          <a:p>
            <a:pPr algn="just"/>
            <a:r>
              <a:rPr lang="en-UA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Valuation date:</a:t>
            </a:r>
          </a:p>
          <a:p>
            <a:pPr algn="just"/>
            <a:r>
              <a:rPr lang="en-UA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Alpha horizon: </a:t>
            </a:r>
            <a:r>
              <a:rPr lang="en-UA" sz="1600" b="1" dirty="0">
                <a:latin typeface="Arial" panose="020B0604020202020204" pitchFamily="34" charset="0"/>
                <a:cs typeface="Arial" panose="020B0604020202020204" pitchFamily="34" charset="0"/>
              </a:rPr>
              <a:t>1 year</a:t>
            </a:r>
            <a:r>
              <a:rPr lang="en-UA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A60FD68-77AF-55A8-15D7-10B25A83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18274" y="541951"/>
            <a:ext cx="1909939" cy="465570"/>
          </a:xfrm>
        </p:spPr>
        <p:txBody>
          <a:bodyPr/>
          <a:lstStyle/>
          <a:p>
            <a:fld id="{6746ECE2-289B-2C42-B2E0-42DF37643BB4}" type="datetime3">
              <a:rPr lang="en-US" sz="1600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April 2026</a:t>
            </a:fld>
            <a:endParaRPr lang="en-UA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B1841F-BE9F-20D5-3B4C-EA9DD3ABC4E8}"/>
              </a:ext>
            </a:extLst>
          </p:cNvPr>
          <p:cNvSpPr txBox="1"/>
          <p:nvPr/>
        </p:nvSpPr>
        <p:spPr>
          <a:xfrm>
            <a:off x="-139805" y="9636996"/>
            <a:ext cx="6997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A" sz="1400" b="1" dirty="0">
                <a:latin typeface="Comic Sans MS" panose="030F0902030302020204" pitchFamily="66" charset="0"/>
              </a:rPr>
              <a:t>Ugly Sunfish | aka (SamChyst)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809998-FAC3-C1F8-BA6C-63AB2FF7263E}"/>
              </a:ext>
            </a:extLst>
          </p:cNvPr>
          <p:cNvSpPr txBox="1"/>
          <p:nvPr/>
        </p:nvSpPr>
        <p:spPr>
          <a:xfrm>
            <a:off x="3628213" y="8532000"/>
            <a:ext cx="3055736" cy="3077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A" sz="1400" b="1" dirty="0">
                <a:latin typeface="Arial" panose="020B0604020202020204" pitchFamily="34" charset="0"/>
                <a:cs typeface="Arial" panose="020B0604020202020204" pitchFamily="34" charset="0"/>
              </a:rPr>
              <a:t>Input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157BFE-D4B7-D4A7-0B3C-3997320BEE74}"/>
              </a:ext>
            </a:extLst>
          </p:cNvPr>
          <p:cNvSpPr txBox="1"/>
          <p:nvPr/>
        </p:nvSpPr>
        <p:spPr>
          <a:xfrm>
            <a:off x="3573463" y="8796577"/>
            <a:ext cx="3179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A" sz="1400" b="1" dirty="0">
                <a:latin typeface="Arial" panose="020B0604020202020204" pitchFamily="34" charset="0"/>
                <a:cs typeface="Arial" panose="020B0604020202020204" pitchFamily="34" charset="0"/>
              </a:rPr>
              <a:t>Implied upside: {implied_upside}</a:t>
            </a:r>
          </a:p>
          <a:p>
            <a:r>
              <a:rPr lang="en-UA" sz="1400" b="1" dirty="0">
                <a:latin typeface="Arial" panose="020B0604020202020204" pitchFamily="34" charset="0"/>
                <a:cs typeface="Arial" panose="020B0604020202020204" pitchFamily="34" charset="0"/>
              </a:rPr>
              <a:t>10Y US T-Bond yield: {t_bond_rate}</a:t>
            </a:r>
          </a:p>
          <a:p>
            <a:r>
              <a:rPr lang="en-UA" sz="1400" b="1" dirty="0">
                <a:latin typeface="Arial" panose="020B0604020202020204" pitchFamily="34" charset="0"/>
                <a:cs typeface="Arial" panose="020B0604020202020204" pitchFamily="34" charset="0"/>
              </a:rPr>
              <a:t>Alpha ML prediction: {alpha_hat}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658A99-ADB2-4132-E170-71647BC6A0B6}"/>
              </a:ext>
            </a:extLst>
          </p:cNvPr>
          <p:cNvCxnSpPr/>
          <p:nvPr/>
        </p:nvCxnSpPr>
        <p:spPr>
          <a:xfrm>
            <a:off x="188913" y="8515539"/>
            <a:ext cx="6480175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46D3F94-EF09-4559-6DAE-A7943D37904F}"/>
              </a:ext>
            </a:extLst>
          </p:cNvPr>
          <p:cNvCxnSpPr>
            <a:cxnSpLocks/>
          </p:cNvCxnSpPr>
          <p:nvPr/>
        </p:nvCxnSpPr>
        <p:spPr>
          <a:xfrm>
            <a:off x="-68013" y="269982"/>
            <a:ext cx="69978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083420-516F-8B6F-D767-777D8C3CB4D9}"/>
              </a:ext>
            </a:extLst>
          </p:cNvPr>
          <p:cNvCxnSpPr>
            <a:cxnSpLocks/>
          </p:cNvCxnSpPr>
          <p:nvPr/>
        </p:nvCxnSpPr>
        <p:spPr>
          <a:xfrm>
            <a:off x="-68013" y="9632950"/>
            <a:ext cx="69978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1">
            <a:extLst>
              <a:ext uri="{FF2B5EF4-FFF2-40B4-BE49-F238E27FC236}">
                <a16:creationId xmlns:a16="http://schemas.microsoft.com/office/drawing/2014/main" id="{86E68411-A077-73C2-FB37-A1F747769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051" y="1396573"/>
            <a:ext cx="6480175" cy="1021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model assigns a </a:t>
            </a:r>
            <a:r>
              <a:rPr kumimoji="0" lang="en-UA" altLang="en-UA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{qualitative_word} </a:t>
            </a: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probability of market outperformance </a:t>
            </a:r>
            <a:r>
              <a:rPr lang="en-UA" altLang="en-UA" sz="1400" dirty="0"/>
              <a:t> </a:t>
            </a: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over a one-year horizon. The expected alpha is </a:t>
            </a:r>
            <a:r>
              <a:rPr kumimoji="0" lang="en-UA" altLang="en-UA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{expected_alpha}%</a:t>
            </a:r>
            <a:r>
              <a:rPr kumimoji="0" lang="en-UA" altLang="en-UA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A" altLang="en-UA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with a distribution that is </a:t>
            </a:r>
            <a:r>
              <a:rPr kumimoji="0" lang="en-UA" altLang="en-UA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{skew_description}</a:t>
            </a: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A" altLang="en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A" altLang="en-UA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Downside risk remains </a:t>
            </a:r>
            <a:r>
              <a:rPr kumimoji="0" lang="en-UA" altLang="en-UA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{risk_level}</a:t>
            </a:r>
            <a:r>
              <a:rPr kumimoji="0" lang="en-UA" altLang="en-UA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A" altLang="en-UA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3BB658-4ADC-270C-21EA-8DC14C48C52D}"/>
              </a:ext>
            </a:extLst>
          </p:cNvPr>
          <p:cNvSpPr/>
          <p:nvPr/>
        </p:nvSpPr>
        <p:spPr>
          <a:xfrm>
            <a:off x="3639089" y="2541141"/>
            <a:ext cx="2964371" cy="41319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A" dirty="0"/>
              <a:t>{Football Field}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03F366A-93D1-D422-31C6-6CF434259F39}"/>
              </a:ext>
            </a:extLst>
          </p:cNvPr>
          <p:cNvCxnSpPr/>
          <p:nvPr/>
        </p:nvCxnSpPr>
        <p:spPr>
          <a:xfrm>
            <a:off x="188913" y="1368906"/>
            <a:ext cx="6480175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C81155-EAF6-D475-BCF8-D26042F866D4}"/>
              </a:ext>
            </a:extLst>
          </p:cNvPr>
          <p:cNvCxnSpPr/>
          <p:nvPr/>
        </p:nvCxnSpPr>
        <p:spPr>
          <a:xfrm>
            <a:off x="188913" y="2443430"/>
            <a:ext cx="6480175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A5246A04-9047-E41E-38EA-415D998CD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635833"/>
              </p:ext>
            </p:extLst>
          </p:nvPr>
        </p:nvGraphicFramePr>
        <p:xfrm>
          <a:off x="203774" y="2541141"/>
          <a:ext cx="3264232" cy="5874386"/>
        </p:xfrm>
        <a:graphic>
          <a:graphicData uri="http://schemas.openxmlformats.org/drawingml/2006/table">
            <a:tbl>
              <a:tblPr bandCol="1">
                <a:tableStyleId>{073A0DAA-6AF3-43AB-8588-CEC1D06C72B9}</a:tableStyleId>
              </a:tblPr>
              <a:tblGrid>
                <a:gridCol w="1632116">
                  <a:extLst>
                    <a:ext uri="{9D8B030D-6E8A-4147-A177-3AD203B41FA5}">
                      <a16:colId xmlns:a16="http://schemas.microsoft.com/office/drawing/2014/main" val="1425087841"/>
                    </a:ext>
                  </a:extLst>
                </a:gridCol>
                <a:gridCol w="1632116">
                  <a:extLst>
                    <a:ext uri="{9D8B030D-6E8A-4147-A177-3AD203B41FA5}">
                      <a16:colId xmlns:a16="http://schemas.microsoft.com/office/drawing/2014/main" val="396933456"/>
                    </a:ext>
                  </a:extLst>
                </a:gridCol>
              </a:tblGrid>
              <a:tr h="839198">
                <a:tc>
                  <a:txBody>
                    <a:bodyPr/>
                    <a:lstStyle/>
                    <a:p>
                      <a:pPr algn="ctr"/>
                      <a:r>
                        <a:rPr lang="en-UA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P(alpha &gt; 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325688"/>
                  </a:ext>
                </a:extLst>
              </a:tr>
              <a:tr h="839198">
                <a:tc>
                  <a:txBody>
                    <a:bodyPr/>
                    <a:lstStyle/>
                    <a:p>
                      <a:pPr algn="ctr"/>
                      <a:r>
                        <a:rPr lang="en-UA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P(alpha &lt; 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529242"/>
                  </a:ext>
                </a:extLst>
              </a:tr>
              <a:tr h="839198">
                <a:tc>
                  <a:txBody>
                    <a:bodyPr/>
                    <a:lstStyle/>
                    <a:p>
                      <a:pPr algn="ctr"/>
                      <a:r>
                        <a:rPr lang="en-UA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P(alpha &lt; -10%)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6467376"/>
                  </a:ext>
                </a:extLst>
              </a:tr>
              <a:tr h="839198">
                <a:tc>
                  <a:txBody>
                    <a:bodyPr/>
                    <a:lstStyle/>
                    <a:p>
                      <a:pPr algn="ctr"/>
                      <a:r>
                        <a:rPr lang="en-UA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P(alpha &lt; -20%)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033375"/>
                  </a:ext>
                </a:extLst>
              </a:tr>
              <a:tr h="839198">
                <a:tc>
                  <a:txBody>
                    <a:bodyPr/>
                    <a:lstStyle/>
                    <a:p>
                      <a:pPr algn="ctr"/>
                      <a:r>
                        <a:rPr lang="en-UA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Median(alpha)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786326"/>
                  </a:ext>
                </a:extLst>
              </a:tr>
              <a:tr h="839198">
                <a:tc>
                  <a:txBody>
                    <a:bodyPr/>
                    <a:lstStyle/>
                    <a:p>
                      <a:pPr algn="ctr"/>
                      <a:r>
                        <a:rPr lang="en-UA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Exp(alpha)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1289032"/>
                  </a:ext>
                </a:extLst>
              </a:tr>
              <a:tr h="839198">
                <a:tc>
                  <a:txBody>
                    <a:bodyPr/>
                    <a:lstStyle/>
                    <a:p>
                      <a:pPr algn="ctr"/>
                      <a:r>
                        <a:rPr lang="en-UA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Alpha efficiency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75131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43E74BD-BF52-858C-0263-FC094032DBF5}"/>
                  </a:ext>
                </a:extLst>
              </p:cNvPr>
              <p:cNvSpPr txBox="1"/>
              <p:nvPr/>
            </p:nvSpPr>
            <p:spPr>
              <a:xfrm>
                <a:off x="174051" y="8820349"/>
                <a:ext cx="3253751" cy="754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A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•Since we use a copula distribution and not a timeseries, calling</a:t>
                </a:r>
                <a:r>
                  <a:rPr lang="en-UA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A" sz="1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𝑬𝒙𝒑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𝒂𝒍𝒑𝒉𝒂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sz="1200" b="1" smtClean="0">
                            <a:latin typeface="Arial" panose="020B0604020202020204" pitchFamily="34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σ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𝒂𝒍𝒑𝒉𝒂</m:t>
                        </m:r>
                      </m:den>
                    </m:f>
                  </m:oMath>
                </a14:m>
                <a:r>
                  <a:rPr lang="en-UA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A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a Sharpe ratio is quite controversial, instead–</a:t>
                </a:r>
                <a:r>
                  <a:rPr lang="en-UA" sz="12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alpha efficiency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43E74BD-BF52-858C-0263-FC094032D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51" y="8820349"/>
                <a:ext cx="3253751" cy="754630"/>
              </a:xfrm>
              <a:prstGeom prst="rect">
                <a:avLst/>
              </a:prstGeom>
              <a:blipFill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2AE0E032-6D29-BD34-C487-6D630C4EA332}"/>
              </a:ext>
            </a:extLst>
          </p:cNvPr>
          <p:cNvSpPr txBox="1"/>
          <p:nvPr/>
        </p:nvSpPr>
        <p:spPr>
          <a:xfrm>
            <a:off x="184986" y="8531328"/>
            <a:ext cx="3242816" cy="3077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A" sz="1400" b="1" dirty="0">
                <a:latin typeface="Arial" panose="020B0604020202020204" pitchFamily="34" charset="0"/>
                <a:cs typeface="Arial" panose="020B0604020202020204" pitchFamily="34" charset="0"/>
              </a:rPr>
              <a:t>Notes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81D6F9-5B28-12B1-3BBD-E2A76D5C3B7B}"/>
              </a:ext>
            </a:extLst>
          </p:cNvPr>
          <p:cNvSpPr txBox="1"/>
          <p:nvPr/>
        </p:nvSpPr>
        <p:spPr>
          <a:xfrm>
            <a:off x="3573463" y="382258"/>
            <a:ext cx="30956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A" sz="1400" i="1" dirty="0">
                <a:latin typeface="Arial" panose="020B0604020202020204" pitchFamily="34" charset="0"/>
                <a:cs typeface="Arial" panose="020B0604020202020204" pitchFamily="34" charset="0"/>
              </a:rPr>
              <a:t>•All projections are meant to be taken as a </a:t>
            </a:r>
            <a:r>
              <a:rPr lang="en-UA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pet project</a:t>
            </a:r>
            <a:r>
              <a:rPr lang="en-UA" sz="1400" i="1" dirty="0">
                <a:latin typeface="Arial" panose="020B0604020202020204" pitchFamily="34" charset="0"/>
                <a:cs typeface="Arial" panose="020B0604020202020204" pitchFamily="34" charset="0"/>
              </a:rPr>
              <a:t>. Author has nothing to do with user’s gambling addiction \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336BA8-65CA-F73A-DBDF-EFE3823419A3}"/>
              </a:ext>
            </a:extLst>
          </p:cNvPr>
          <p:cNvSpPr txBox="1"/>
          <p:nvPr/>
        </p:nvSpPr>
        <p:spPr>
          <a:xfrm>
            <a:off x="3600838" y="6805361"/>
            <a:ext cx="30191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A" sz="1200" dirty="0">
                <a:latin typeface="Arial" panose="020B0604020202020204" pitchFamily="34" charset="0"/>
                <a:cs typeface="Arial" panose="020B0604020202020204" pitchFamily="34" charset="0"/>
              </a:rPr>
              <a:t>•The football field shows quantiles of the conditional alpha distribution given the current ML alpha estimate and implied upside. It should not be read as a deterministic price target. Instead, it summarizes the range of market-relative outcomes historically associated with similar signal conditions.</a:t>
            </a:r>
          </a:p>
        </p:txBody>
      </p:sp>
    </p:spTree>
    <p:extLst>
      <p:ext uri="{BB962C8B-B14F-4D97-AF65-F5344CB8AC3E}">
        <p14:creationId xmlns:p14="http://schemas.microsoft.com/office/powerpoint/2010/main" val="2069310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571</TotalTime>
  <Words>245</Words>
  <Application>Microsoft Macintosh PowerPoint</Application>
  <PresentationFormat>A4 Paper (210x297 mm)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Comic Sans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Чистіков Самсон</dc:creator>
  <cp:lastModifiedBy>Чистіков Самсон</cp:lastModifiedBy>
  <cp:revision>4</cp:revision>
  <dcterms:created xsi:type="dcterms:W3CDTF">2026-04-30T08:36:39Z</dcterms:created>
  <dcterms:modified xsi:type="dcterms:W3CDTF">2026-04-30T18:08:05Z</dcterms:modified>
</cp:coreProperties>
</file>